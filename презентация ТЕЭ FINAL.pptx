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44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F0FC6-D54B-43DE-AFEC-1A5D1AFFC0A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1824B-9FB3-4666-A544-E6F760165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68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F1824B-9FB3-4666-A544-E6F760165A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54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17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86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93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88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92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68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20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9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00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7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173D2E2-2307-4CAE-AE0F-A325FD4D4B3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4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71722" y="2469368"/>
            <a:ext cx="9144000" cy="14426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«Проектирование ИС «Агентство недвижимости»»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996392" y="4274194"/>
            <a:ext cx="4850296" cy="1651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Выполнила: Таипова Е.Э.,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студентка 2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ИСиП 24-9-1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Гончарова Т.В., 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5431" y="668600"/>
            <a:ext cx="7729728" cy="785731"/>
          </a:xfrm>
        </p:spPr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9726" y="1706881"/>
            <a:ext cx="7801138" cy="4311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Агентство недвижимости – это компания предоставляющая услуги по проведению сделок купли-продажи объектов недвижимости, сдаче объектов в аренду на кратковременные или долговременные сроки. </a:t>
            </a:r>
          </a:p>
          <a:p>
            <a:pPr marL="0" indent="0">
              <a:buNone/>
            </a:pPr>
            <a:r>
              <a:rPr lang="ru-RU" sz="2000" dirty="0"/>
              <a:t>Основные бизнес-процессы:</a:t>
            </a:r>
          </a:p>
          <a:p>
            <a:pPr>
              <a:buFontTx/>
              <a:buChar char="-"/>
            </a:pPr>
            <a:r>
              <a:rPr lang="ru-RU" sz="2000" dirty="0"/>
              <a:t>Внесение данных клиентов и объектов</a:t>
            </a:r>
          </a:p>
          <a:p>
            <a:pPr>
              <a:buFontTx/>
              <a:buChar char="-"/>
            </a:pPr>
            <a:r>
              <a:rPr lang="ru-RU" sz="2000" dirty="0"/>
              <a:t>Формирование и публикация объявлений на внешних площадках (</a:t>
            </a:r>
            <a:r>
              <a:rPr lang="ru-RU" sz="2000" dirty="0" err="1"/>
              <a:t>Авито</a:t>
            </a:r>
            <a:r>
              <a:rPr lang="ru-RU" sz="2000" dirty="0"/>
              <a:t>, Циан, </a:t>
            </a:r>
            <a:r>
              <a:rPr lang="ru-RU" sz="2000" dirty="0" err="1"/>
              <a:t>Домклик</a:t>
            </a:r>
            <a:r>
              <a:rPr lang="ru-RU" sz="2000" dirty="0"/>
              <a:t>)</a:t>
            </a:r>
          </a:p>
          <a:p>
            <a:pPr>
              <a:buFontTx/>
              <a:buChar char="-"/>
            </a:pPr>
            <a:r>
              <a:rPr lang="ru-RU" sz="2000" dirty="0"/>
              <a:t>Сопровождение сделок </a:t>
            </a:r>
          </a:p>
          <a:p>
            <a:pPr>
              <a:buFontTx/>
              <a:buChar char="-"/>
            </a:pPr>
            <a:r>
              <a:rPr lang="ru-RU" sz="2000" dirty="0"/>
              <a:t>Создание договоров купли-продажи</a:t>
            </a:r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688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0013" y="781811"/>
            <a:ext cx="7932637" cy="968611"/>
          </a:xfrm>
        </p:spPr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29681" y="2054571"/>
            <a:ext cx="7932637" cy="3597292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ru-RU" sz="2000" dirty="0"/>
              <a:t>Ручной ввод данных</a:t>
            </a:r>
            <a:r>
              <a:rPr lang="en-US" sz="2000" dirty="0"/>
              <a:t>(</a:t>
            </a:r>
            <a:r>
              <a:rPr lang="ru-RU" sz="2000" dirty="0"/>
              <a:t>юридические ошибки, опечатки в паспортах и реквизитах</a:t>
            </a:r>
            <a:r>
              <a:rPr lang="en-US" sz="2000" dirty="0"/>
              <a:t>)</a:t>
            </a:r>
          </a:p>
          <a:p>
            <a:pPr>
              <a:buFontTx/>
              <a:buChar char="-"/>
            </a:pPr>
            <a:r>
              <a:rPr lang="ru-RU" sz="2000" dirty="0"/>
              <a:t>Дублирование операций</a:t>
            </a:r>
            <a:r>
              <a:rPr lang="en-US" sz="2000" dirty="0"/>
              <a:t>(</a:t>
            </a:r>
            <a:r>
              <a:rPr lang="ru-RU" sz="2000" dirty="0"/>
              <a:t>многократное размещение объявлений на разных сайтах отнимает время</a:t>
            </a:r>
            <a:r>
              <a:rPr lang="en-US" sz="2000" dirty="0"/>
              <a:t>)</a:t>
            </a:r>
          </a:p>
          <a:p>
            <a:pPr>
              <a:buFontTx/>
              <a:buChar char="-"/>
            </a:pPr>
            <a:r>
              <a:rPr lang="ru-RU" sz="2000" dirty="0"/>
              <a:t>Отсутствие единой базы</a:t>
            </a:r>
            <a:r>
              <a:rPr lang="en-US" sz="2000" dirty="0"/>
              <a:t>(</a:t>
            </a:r>
            <a:r>
              <a:rPr lang="ru-RU" sz="2000" dirty="0"/>
              <a:t>низкая прозрачность процессов, сложный поиск нужных вариантов</a:t>
            </a:r>
            <a:r>
              <a:rPr lang="en-US" sz="2000" dirty="0"/>
              <a:t>)</a:t>
            </a:r>
          </a:p>
          <a:p>
            <a:pPr>
              <a:buFontTx/>
              <a:buChar char="-"/>
            </a:pPr>
            <a:r>
              <a:rPr lang="ru-RU" sz="2000" dirty="0"/>
              <a:t>Нет системы уведомлений</a:t>
            </a:r>
            <a:r>
              <a:rPr lang="en-US" sz="2000" dirty="0"/>
              <a:t>(</a:t>
            </a:r>
            <a:r>
              <a:rPr lang="ru-RU" sz="2000" dirty="0"/>
              <a:t>риск упустить клиента или забыть о следующем этапе сделки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597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3451" y="781813"/>
            <a:ext cx="7729728" cy="1188720"/>
          </a:xfrm>
        </p:spPr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97546" y="2289049"/>
            <a:ext cx="4592466" cy="4067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Цель проекта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ru-RU" sz="2000" dirty="0"/>
              <a:t>Проектирование и программная реализация CRM-системы «</a:t>
            </a:r>
            <a:r>
              <a:rPr lang="ru-RU" sz="2000" dirty="0" err="1"/>
              <a:t>Rielto</a:t>
            </a:r>
            <a:r>
              <a:rPr lang="ru-RU" sz="2000" dirty="0"/>
              <a:t>» для автоматизации бизнес-процессов риелтора, надежного хранения данных, ускорения оформления документов и интеграции с внешними площадками объявлений.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990011" y="2280993"/>
            <a:ext cx="7132320" cy="428527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800" b="1" dirty="0"/>
              <a:t>Задачи:</a:t>
            </a:r>
            <a:endParaRPr lang="ru-RU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Провести анализ предметной области и обосновать реинжиниринг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Разработать функциональные требования и смоделировать процессы 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Спроектировать структуру нормализованной реляционной базы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Выбрать оптимальный стек технологий 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Разработать эргономичный пользовательский интерфейс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Реализовать модули генерации договоров и API-выгрузки объявлений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Создать руководство пользователя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863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Объект исследования:</a:t>
            </a:r>
          </a:p>
        </p:txBody>
      </p:sp>
      <p:sp>
        <p:nvSpPr>
          <p:cNvPr id="12" name="Объект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000" dirty="0"/>
              <a:t>Бизнес-процессы агентства недвижимости, связанные с учетом клиентов и объектов, публикацией объявлений и сопровождением сделок купли-продажи.</a:t>
            </a:r>
          </a:p>
          <a:p>
            <a:endParaRPr lang="ru-RU" dirty="0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416770" cy="2596776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Информационная CRM-система «</a:t>
            </a:r>
            <a:r>
              <a:rPr lang="ru-RU" sz="2000" dirty="0" err="1"/>
              <a:t>Rielto</a:t>
            </a:r>
            <a:r>
              <a:rPr lang="ru-RU" sz="2000" dirty="0"/>
              <a:t>», методы проектирования баз данных и алгоритмы автоматизации рабочего места риелтора.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Предмет исследования: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44277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89927"/>
            <a:ext cx="7729728" cy="1188720"/>
          </a:xfrm>
        </p:spPr>
        <p:txBody>
          <a:bodyPr>
            <a:normAutofit/>
          </a:bodyPr>
          <a:lstStyle/>
          <a:p>
            <a:r>
              <a:rPr lang="ru-RU" dirty="0"/>
              <a:t>Контекстная </a:t>
            </a:r>
            <a:r>
              <a:rPr lang="en-US" dirty="0"/>
              <a:t> </a:t>
            </a:r>
            <a:r>
              <a:rPr lang="ru-RU" dirty="0"/>
              <a:t>Диаграмма </a:t>
            </a:r>
            <a:r>
              <a:rPr lang="en-US" dirty="0"/>
              <a:t>idef0 </a:t>
            </a:r>
            <a:r>
              <a:rPr lang="ru-RU" dirty="0"/>
              <a:t>«Проведение сделки»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51762" y="1825670"/>
            <a:ext cx="6488476" cy="443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395" y="381217"/>
            <a:ext cx="8785208" cy="1188720"/>
          </a:xfrm>
        </p:spPr>
        <p:txBody>
          <a:bodyPr>
            <a:normAutofit/>
          </a:bodyPr>
          <a:lstStyle/>
          <a:p>
            <a:r>
              <a:rPr lang="ru-RU" dirty="0"/>
              <a:t>ДЕКОМПОЗИЦИЯ ДИАГРАММЫ </a:t>
            </a:r>
            <a:r>
              <a:rPr lang="en-US" dirty="0"/>
              <a:t>IDEF0 </a:t>
            </a:r>
            <a:r>
              <a:rPr lang="ru-RU" dirty="0"/>
              <a:t>(1ур.)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395" y="1724025"/>
            <a:ext cx="8785208" cy="471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9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3573" y="529264"/>
            <a:ext cx="7729728" cy="1188720"/>
          </a:xfrm>
        </p:spPr>
        <p:txBody>
          <a:bodyPr/>
          <a:lstStyle/>
          <a:p>
            <a:r>
              <a:rPr lang="ru-RU" dirty="0"/>
              <a:t>Контекстная ДИАГРАММА DFD «Проведение сделки»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777445" y="2059930"/>
            <a:ext cx="6976156" cy="41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5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8711" y="485721"/>
            <a:ext cx="8654578" cy="1188720"/>
          </a:xfrm>
        </p:spPr>
        <p:txBody>
          <a:bodyPr/>
          <a:lstStyle/>
          <a:p>
            <a:r>
              <a:rPr lang="ru-RU" dirty="0"/>
              <a:t>ДЕКОМПОЗИЦИЯ ДИАГРАММЫ </a:t>
            </a:r>
            <a:r>
              <a:rPr lang="en-US" dirty="0"/>
              <a:t>DFD</a:t>
            </a:r>
            <a:r>
              <a:rPr lang="ru-RU" dirty="0"/>
              <a:t> (1ур.)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711" y="1924321"/>
            <a:ext cx="8654578" cy="454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0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9513" y="355092"/>
            <a:ext cx="7729728" cy="1188720"/>
          </a:xfrm>
        </p:spPr>
        <p:txBody>
          <a:bodyPr/>
          <a:lstStyle/>
          <a:p>
            <a:r>
              <a:rPr lang="ru-RU" dirty="0"/>
              <a:t>Техническое задание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78971" y="1958775"/>
            <a:ext cx="5573486" cy="4790367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ru-RU" sz="4200" b="1" dirty="0"/>
              <a:t>Основная цель разработки ИС:</a:t>
            </a:r>
            <a:r>
              <a:rPr lang="ru-RU" sz="4200" dirty="0"/>
              <a:t> Создание рабочего пространства агента для хранения данных, автоматизированной выгрузки объявлений, генерации юридически корректных договоров и контроля сделок.</a:t>
            </a:r>
          </a:p>
          <a:p>
            <a:pPr marL="0" indent="0" algn="just">
              <a:buNone/>
            </a:pPr>
            <a:r>
              <a:rPr lang="ru-RU" sz="4200" b="1" dirty="0"/>
              <a:t>Этапы разработки:</a:t>
            </a:r>
            <a:endParaRPr lang="ru-RU" sz="4200" dirty="0"/>
          </a:p>
          <a:p>
            <a:pPr algn="just">
              <a:buFontTx/>
              <a:buChar char="-"/>
            </a:pPr>
            <a:r>
              <a:rPr lang="ru-RU" sz="4200" dirty="0"/>
              <a:t>Анализ требований и согласование архитектуры</a:t>
            </a:r>
          </a:p>
          <a:p>
            <a:pPr algn="just">
              <a:buFontTx/>
              <a:buChar char="-"/>
            </a:pPr>
            <a:r>
              <a:rPr lang="ru-RU" sz="4200" dirty="0"/>
              <a:t>Разработка БД и UI</a:t>
            </a:r>
          </a:p>
          <a:p>
            <a:pPr algn="just">
              <a:buFontTx/>
              <a:buChar char="-"/>
            </a:pPr>
            <a:r>
              <a:rPr lang="ru-RU" sz="4200" dirty="0"/>
              <a:t>Программная реализация серверной и клиентской частей</a:t>
            </a:r>
          </a:p>
          <a:p>
            <a:pPr algn="just">
              <a:buFontTx/>
              <a:buChar char="-"/>
            </a:pPr>
            <a:r>
              <a:rPr lang="ru-RU" sz="4200" dirty="0"/>
              <a:t>Настройка модулей генерации документов и внешней интеграции</a:t>
            </a:r>
          </a:p>
          <a:p>
            <a:pPr algn="just">
              <a:buFontTx/>
              <a:buChar char="-"/>
            </a:pPr>
            <a:r>
              <a:rPr lang="ru-RU" sz="4200" dirty="0"/>
              <a:t>Разработка документации и эксплуатация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74377" y="1958775"/>
            <a:ext cx="5704114" cy="4302689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ru-RU" sz="4200" b="1" dirty="0"/>
              <a:t>Функциональные требования:</a:t>
            </a:r>
            <a:r>
              <a:rPr lang="ru-RU" sz="4200" dirty="0"/>
              <a:t> </a:t>
            </a:r>
          </a:p>
          <a:p>
            <a:pPr algn="just">
              <a:buFontTx/>
              <a:buChar char="-"/>
            </a:pPr>
            <a:r>
              <a:rPr lang="ru-RU" sz="4200" dirty="0"/>
              <a:t>Авторизация и ролевая модель доступа  </a:t>
            </a:r>
          </a:p>
          <a:p>
            <a:pPr algn="just">
              <a:buFontTx/>
              <a:buChar char="-"/>
            </a:pPr>
            <a:r>
              <a:rPr lang="ru-RU" sz="4200" dirty="0"/>
              <a:t>CRUD-операции с клиентами и объектами недвижимости </a:t>
            </a:r>
          </a:p>
          <a:p>
            <a:pPr algn="just">
              <a:buFontTx/>
              <a:buChar char="-"/>
            </a:pPr>
            <a:r>
              <a:rPr lang="ru-RU" sz="4200" dirty="0"/>
              <a:t>Загрузка и автоматическая оптимизация фото </a:t>
            </a:r>
          </a:p>
          <a:p>
            <a:pPr algn="just">
              <a:buFontTx/>
              <a:buChar char="-"/>
            </a:pPr>
            <a:r>
              <a:rPr lang="ru-RU" sz="4200" dirty="0"/>
              <a:t>Формирование объявлений и управление статусами выгрузки </a:t>
            </a:r>
          </a:p>
          <a:p>
            <a:pPr algn="just">
              <a:buFontTx/>
              <a:buChar char="-"/>
            </a:pPr>
            <a:r>
              <a:rPr lang="ru-RU" sz="4200" dirty="0"/>
              <a:t>Привязка покупателя, продавца и объекта к единой карточке сделки </a:t>
            </a:r>
          </a:p>
          <a:p>
            <a:pPr algn="just">
              <a:buFontTx/>
              <a:buChar char="-"/>
            </a:pPr>
            <a:r>
              <a:rPr lang="ru-RU" sz="4200" dirty="0" err="1"/>
              <a:t>Автоподстановка</a:t>
            </a:r>
            <a:r>
              <a:rPr lang="ru-RU" sz="4200" dirty="0"/>
              <a:t> реквизитов в шаблоны договоров </a:t>
            </a:r>
          </a:p>
          <a:p>
            <a:pPr algn="just">
              <a:buFontTx/>
              <a:buChar char="-"/>
            </a:pPr>
            <a:r>
              <a:rPr lang="ru-RU" sz="4200" dirty="0"/>
              <a:t>Системное </a:t>
            </a:r>
            <a:r>
              <a:rPr lang="ru-RU" sz="4200" dirty="0" err="1"/>
              <a:t>логирование</a:t>
            </a:r>
            <a:r>
              <a:rPr lang="ru-RU" sz="4200" dirty="0"/>
              <a:t> действий и </a:t>
            </a:r>
            <a:r>
              <a:rPr lang="ru-RU" sz="4200" dirty="0" err="1"/>
              <a:t>push</a:t>
            </a:r>
            <a:r>
              <a:rPr lang="ru-RU" sz="4200" dirty="0"/>
              <a:t>/</a:t>
            </a:r>
            <a:r>
              <a:rPr lang="ru-RU" sz="4200" dirty="0" err="1"/>
              <a:t>email</a:t>
            </a:r>
            <a:r>
              <a:rPr lang="ru-RU" sz="4200" dirty="0"/>
              <a:t>-уведомления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4985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55091"/>
            <a:ext cx="7729728" cy="1188720"/>
          </a:xfrm>
        </p:spPr>
        <p:txBody>
          <a:bodyPr>
            <a:normAutofit/>
          </a:bodyPr>
          <a:lstStyle/>
          <a:p>
            <a:r>
              <a:rPr lang="ru-RU" dirty="0"/>
              <a:t>UML диаграмма вариантов использования (</a:t>
            </a:r>
            <a:r>
              <a:rPr lang="ru-RU" dirty="0" err="1"/>
              <a:t>UseCase</a:t>
            </a:r>
            <a:r>
              <a:rPr lang="ru-RU" dirty="0"/>
              <a:t>)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2554" y="1724025"/>
            <a:ext cx="5346891" cy="468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0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507" y="2814575"/>
            <a:ext cx="4486656" cy="1141497"/>
          </a:xfrm>
        </p:spPr>
        <p:txBody>
          <a:bodyPr>
            <a:normAutofit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деятельности (</a:t>
            </a:r>
            <a:r>
              <a:rPr lang="en-US" dirty="0"/>
              <a:t>Activity)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8480" y="95322"/>
            <a:ext cx="4845269" cy="658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3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44214" y="2858250"/>
            <a:ext cx="4486656" cy="1141497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последовательности (</a:t>
            </a:r>
            <a:r>
              <a:rPr lang="en-US" dirty="0"/>
              <a:t>Sequence)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469" y="929639"/>
            <a:ext cx="5460274" cy="4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72509"/>
            <a:ext cx="7729728" cy="1188720"/>
          </a:xfrm>
        </p:spPr>
        <p:txBody>
          <a:bodyPr/>
          <a:lstStyle/>
          <a:p>
            <a:r>
              <a:rPr lang="en-US" dirty="0"/>
              <a:t>UML </a:t>
            </a:r>
            <a:r>
              <a:rPr lang="ru-RU" dirty="0"/>
              <a:t>диаграмма классов (</a:t>
            </a:r>
            <a:r>
              <a:rPr lang="en-US" dirty="0"/>
              <a:t>Class)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3287" y="1811382"/>
            <a:ext cx="5865425" cy="468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32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E2E7CBE-450C-3641-C814-18F55AC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404949"/>
            <a:ext cx="7729728" cy="1188720"/>
          </a:xfrm>
        </p:spPr>
        <p:txBody>
          <a:bodyPr/>
          <a:lstStyle/>
          <a:p>
            <a:r>
              <a:rPr lang="ru-RU" dirty="0"/>
              <a:t>концептуальная МОДЕЛЬ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FA1C51-B3CE-6088-3FFA-9A162F1B2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378" y="1763177"/>
            <a:ext cx="7029243" cy="490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49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5" y="404949"/>
            <a:ext cx="7729728" cy="1188720"/>
          </a:xfrm>
        </p:spPr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9988" y="1776276"/>
            <a:ext cx="6932023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94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5" y="578294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5" y="1927653"/>
            <a:ext cx="7729728" cy="407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Фильтрация объектов недвижимости по типу и бюджету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18034" y="2495607"/>
            <a:ext cx="8155931" cy="37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42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5" y="510436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916697" y="2384652"/>
            <a:ext cx="8358605" cy="3917294"/>
          </a:xfrm>
          <a:prstGeom prst="rect">
            <a:avLst/>
          </a:prstGeom>
        </p:spPr>
      </p:pic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2231135" y="1853514"/>
            <a:ext cx="7729728" cy="53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Расчёт средней рыночной стоимости по категориям</a:t>
            </a:r>
          </a:p>
        </p:txBody>
      </p:sp>
    </p:spTree>
    <p:extLst>
      <p:ext uri="{BB962C8B-B14F-4D97-AF65-F5344CB8AC3E}">
        <p14:creationId xmlns:p14="http://schemas.microsoft.com/office/powerpoint/2010/main" val="1051267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1969903"/>
            <a:ext cx="7234397" cy="439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Проверка </a:t>
            </a:r>
            <a:r>
              <a:rPr lang="ru-RU" sz="2000" dirty="0" err="1"/>
              <a:t>заполненности</a:t>
            </a:r>
            <a:r>
              <a:rPr lang="ru-RU" sz="2000" dirty="0"/>
              <a:t> паспортных данных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6" y="615120"/>
            <a:ext cx="7729728" cy="1188720"/>
          </a:xfrm>
        </p:spPr>
        <p:txBody>
          <a:bodyPr/>
          <a:lstStyle/>
          <a:p>
            <a:r>
              <a:rPr lang="ru-RU" dirty="0"/>
              <a:t>Проверочные ЗАПРОСЫ К БАЗЕ ДАННЫХ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48162" y="2575631"/>
            <a:ext cx="8557373" cy="339268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748162" y="2575631"/>
            <a:ext cx="8557373" cy="5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62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42476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30836" y="1947966"/>
            <a:ext cx="7530328" cy="451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78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6" y="60870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3071" y="2355737"/>
            <a:ext cx="5940425" cy="371602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93790" y="2355737"/>
            <a:ext cx="5940425" cy="371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92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984" y="458065"/>
            <a:ext cx="7729728" cy="1188720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8097" y="1902941"/>
            <a:ext cx="9316995" cy="45225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dirty="0">
                <a:ea typeface="Times New Roman" panose="02020603050405020304" pitchFamily="18" charset="0"/>
              </a:rPr>
              <a:t>	В заключение курсового проекта по теме «Проектирование ИС «Агентство недвижимости»» можно утвердить, что была разработана система, предоставляющая агентам(риелторам) возможность подбора объектов/клиентов, проведения сделки, хранения данных, генерации договоров/объявлений с использованием информационной системы. </a:t>
            </a:r>
          </a:p>
          <a:p>
            <a:pPr marL="0" indent="0" algn="just">
              <a:buNone/>
            </a:pPr>
            <a:r>
              <a:rPr lang="ru-RU" sz="2000" dirty="0">
                <a:ea typeface="Times New Roman" panose="02020603050405020304" pitchFamily="18" charset="0"/>
              </a:rPr>
              <a:t>	Разработка этой информационной системы представляет собой важный шаг в сфере недвижимости, обеспечивая агентам(риелторам) удобный и доступный способ ведения учета объектов, клиентов, сделок, а также обеспечивает устойчивое конкурентное преимущество, снижение операционных издержек и переход к </a:t>
            </a:r>
            <a:r>
              <a:rPr lang="ru-RU" sz="2000" dirty="0" err="1">
                <a:ea typeface="Times New Roman" panose="02020603050405020304" pitchFamily="18" charset="0"/>
              </a:rPr>
              <a:t>клиентоориентированной</a:t>
            </a:r>
            <a:r>
              <a:rPr lang="ru-RU" sz="2000" dirty="0">
                <a:ea typeface="Times New Roman" panose="02020603050405020304" pitchFamily="18" charset="0"/>
              </a:rPr>
              <a:t> модели 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1814063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48553" y="2697698"/>
            <a:ext cx="7729728" cy="118872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59134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122</TotalTime>
  <Words>585</Words>
  <Application>Microsoft Office PowerPoint</Application>
  <PresentationFormat>Широкоэкранный</PresentationFormat>
  <Paragraphs>76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Corbel</vt:lpstr>
      <vt:lpstr>Gill Sans MT</vt:lpstr>
      <vt:lpstr>Times New Roman</vt:lpstr>
      <vt:lpstr>Parcel</vt:lpstr>
      <vt:lpstr>Презентация PowerPoint</vt:lpstr>
      <vt:lpstr>Описание предметной области</vt:lpstr>
      <vt:lpstr>Проблематика</vt:lpstr>
      <vt:lpstr>Цели и задачи</vt:lpstr>
      <vt:lpstr>Объект и предмет исследования</vt:lpstr>
      <vt:lpstr>Контекстная  Диаграмма idef0 «Проведение сделки»</vt:lpstr>
      <vt:lpstr>ДЕКОМПОЗИЦИЯ ДИАГРАММЫ IDEF0 (1ур.)</vt:lpstr>
      <vt:lpstr>Контекстная ДИАГРАММА DFD «Проведение сделки»</vt:lpstr>
      <vt:lpstr>ДЕКОМПОЗИЦИЯ ДИАГРАММЫ DFD (1ур.)</vt:lpstr>
      <vt:lpstr>Техническое задание</vt:lpstr>
      <vt:lpstr>UML диаграмма вариантов использования (UseCase)</vt:lpstr>
      <vt:lpstr>UML диаграмма деятельности (Activity)</vt:lpstr>
      <vt:lpstr>UML диаграмма последовательности (Sequence)</vt:lpstr>
      <vt:lpstr>UML диаграмма классов (Class)</vt:lpstr>
      <vt:lpstr>концептуальная МОДЕЛЬ ДАННЫХ</vt:lpstr>
      <vt:lpstr>ЛОГИЧЕСКАЯ МОДЕЛЬ ДАННЫХ</vt:lpstr>
      <vt:lpstr>АНАЛИТИЧЕСКИЕ ЗАПРОСЫ К БАЗЕ ДАННЫХ</vt:lpstr>
      <vt:lpstr>АНАЛИТИЧЕСКИЕ ЗАПРОСЫ К БАЗЕ ДАННЫХ</vt:lpstr>
      <vt:lpstr>Проверочные ЗАПРОСЫ К БАЗЕ ДАННЫХ</vt:lpstr>
      <vt:lpstr>ПОЛЬЗОВАТЕЛЬСКИЙ ИНТЕРФЕЙС</vt:lpstr>
      <vt:lpstr>ПОЛЬЗОВАТЕЛЬСКИЙ ИНТЕРФЕЙС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Office</cp:lastModifiedBy>
  <cp:revision>13</cp:revision>
  <dcterms:created xsi:type="dcterms:W3CDTF">2026-05-05T04:42:58Z</dcterms:created>
  <dcterms:modified xsi:type="dcterms:W3CDTF">2026-05-12T02:28:11Z</dcterms:modified>
</cp:coreProperties>
</file>