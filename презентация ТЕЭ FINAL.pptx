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26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AF0FC6-D54B-43DE-AFEC-1A5D1AFFC0A7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1824B-9FB3-4666-A544-E6F760165A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5682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F1824B-9FB3-4666-A544-E6F760165AEB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437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354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0179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98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1937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885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1926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683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520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299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009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307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C173D2E2-2307-4CAE-AE0F-A325FD4D4B38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241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1571722" y="2469368"/>
            <a:ext cx="9144000" cy="14426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Курсовой проект</a:t>
            </a:r>
            <a:br>
              <a:rPr lang="ru-RU" sz="3600" dirty="0" smtClean="0"/>
            </a:br>
            <a:r>
              <a:rPr lang="ru-RU" sz="3600" dirty="0"/>
              <a:t>на тему «Проектирование ИС </a:t>
            </a:r>
            <a:r>
              <a:rPr lang="ru-RU" sz="3600" dirty="0" smtClean="0"/>
              <a:t>«Агентство </a:t>
            </a:r>
            <a:r>
              <a:rPr lang="ru-RU" sz="3600" dirty="0"/>
              <a:t>недвижимости»»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6996392" y="4274194"/>
            <a:ext cx="4850296" cy="16517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 smtClean="0"/>
              <a:t>Выполнила: Таипова Е.Э.,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 smtClean="0"/>
              <a:t>студентка 2 курса очной формы обучения,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 smtClean="0"/>
              <a:t>группы ИСиП 24-9-1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 smtClean="0"/>
              <a:t>Проверила: Гончарова Т.В., должность: преподаватель проф. дисциплин</a:t>
            </a:r>
          </a:p>
          <a:p>
            <a:endParaRPr lang="ru-RU" sz="18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53143" y="303793"/>
            <a:ext cx="1098731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/>
              <a:t>ГОСУДАРСТВЕННОЕ АВТОНОМНОЕ ПРОФЕССИОНАЛЬНОЕ ОБРАЗОВАТЕЛЬНОЕ </a:t>
            </a:r>
          </a:p>
          <a:p>
            <a:pPr algn="ctr"/>
            <a:r>
              <a:rPr lang="ru-RU" sz="2000" dirty="0"/>
              <a:t>УЧРЕЖДЕНИЕ  ТЮМЕНСКОЙ ОБЛАСТИ </a:t>
            </a:r>
          </a:p>
          <a:p>
            <a:pPr algn="ctr"/>
            <a:r>
              <a:rPr lang="ru-RU" sz="2000" dirty="0"/>
              <a:t>«ТЮМЕНСКИЙ ТЕХНИКУМ СТРОИТЕЛЬНОЙ ИНДУСТРИИ И ГОРОДСКОГО ХОЗЯЙСТВА»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096801" y="6288156"/>
            <a:ext cx="20938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>
                <a:latin typeface="+mj-lt"/>
              </a:rPr>
              <a:t>г. Тюмень, </a:t>
            </a:r>
            <a:r>
              <a:rPr lang="ru-RU" sz="2000" dirty="0" smtClean="0">
                <a:latin typeface="+mj-lt"/>
              </a:rPr>
              <a:t>2026 </a:t>
            </a:r>
            <a:r>
              <a:rPr lang="ru-RU" sz="2000" dirty="0">
                <a:latin typeface="+mj-lt"/>
              </a:rPr>
              <a:t>г.</a:t>
            </a:r>
          </a:p>
        </p:txBody>
      </p:sp>
    </p:spTree>
    <p:extLst>
      <p:ext uri="{BB962C8B-B14F-4D97-AF65-F5344CB8AC3E}">
        <p14:creationId xmlns:p14="http://schemas.microsoft.com/office/powerpoint/2010/main" val="1410910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5431" y="668600"/>
            <a:ext cx="7729728" cy="785731"/>
          </a:xfrm>
        </p:spPr>
        <p:txBody>
          <a:bodyPr/>
          <a:lstStyle/>
          <a:p>
            <a:r>
              <a:rPr lang="ru-RU" dirty="0" smtClean="0"/>
              <a:t>Описание предметной области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9726" y="1706881"/>
            <a:ext cx="7801138" cy="43118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А</a:t>
            </a:r>
            <a:r>
              <a:rPr lang="ru-RU" sz="2000" dirty="0" smtClean="0"/>
              <a:t>гентство недвижимости – это компания предоставляющая услуги по проведению сделок купли-продажи объектов недвижимости, сдаче объектов в аренду на кратковременные или долговременные сроки. </a:t>
            </a:r>
            <a:endParaRPr lang="ru-RU" sz="2000" dirty="0"/>
          </a:p>
          <a:p>
            <a:pPr marL="0" indent="0">
              <a:buNone/>
            </a:pPr>
            <a:r>
              <a:rPr lang="ru-RU" sz="2000" dirty="0" smtClean="0"/>
              <a:t>Основные бизнес-процессы:</a:t>
            </a:r>
          </a:p>
          <a:p>
            <a:pPr>
              <a:buFontTx/>
              <a:buChar char="-"/>
            </a:pPr>
            <a:r>
              <a:rPr lang="ru-RU" sz="2000" dirty="0" smtClean="0"/>
              <a:t>Внесение данных </a:t>
            </a:r>
            <a:r>
              <a:rPr lang="ru-RU" sz="2000" dirty="0"/>
              <a:t>клиентов и </a:t>
            </a:r>
            <a:r>
              <a:rPr lang="ru-RU" sz="2000" dirty="0" smtClean="0"/>
              <a:t>объектов</a:t>
            </a:r>
          </a:p>
          <a:p>
            <a:pPr>
              <a:buFontTx/>
              <a:buChar char="-"/>
            </a:pPr>
            <a:r>
              <a:rPr lang="ru-RU" sz="2000" dirty="0" smtClean="0"/>
              <a:t>Формирование </a:t>
            </a:r>
            <a:r>
              <a:rPr lang="ru-RU" sz="2000" dirty="0"/>
              <a:t>и публикация объявлений на внешних площадках (</a:t>
            </a:r>
            <a:r>
              <a:rPr lang="ru-RU" sz="2000" dirty="0" err="1"/>
              <a:t>Авито</a:t>
            </a:r>
            <a:r>
              <a:rPr lang="ru-RU" sz="2000" dirty="0"/>
              <a:t>, Циан, </a:t>
            </a:r>
            <a:r>
              <a:rPr lang="ru-RU" sz="2000" dirty="0" err="1" smtClean="0"/>
              <a:t>Домклик</a:t>
            </a:r>
            <a:r>
              <a:rPr lang="ru-RU" sz="2000" dirty="0" smtClean="0"/>
              <a:t>)</a:t>
            </a:r>
          </a:p>
          <a:p>
            <a:pPr>
              <a:buFontTx/>
              <a:buChar char="-"/>
            </a:pPr>
            <a:r>
              <a:rPr lang="ru-RU" sz="2000" dirty="0" smtClean="0"/>
              <a:t>Сопровождение </a:t>
            </a:r>
            <a:r>
              <a:rPr lang="ru-RU" sz="2000" dirty="0"/>
              <a:t>сделок </a:t>
            </a:r>
            <a:endParaRPr lang="ru-RU" sz="2000" dirty="0" smtClean="0"/>
          </a:p>
          <a:p>
            <a:pPr>
              <a:buFontTx/>
              <a:buChar char="-"/>
            </a:pPr>
            <a:r>
              <a:rPr lang="ru-RU" sz="2000" dirty="0" smtClean="0"/>
              <a:t>Создание </a:t>
            </a:r>
            <a:r>
              <a:rPr lang="ru-RU" sz="2000" dirty="0"/>
              <a:t>договоров купли-продажи</a:t>
            </a:r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68806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60013" y="781811"/>
            <a:ext cx="7932637" cy="968611"/>
          </a:xfrm>
        </p:spPr>
        <p:txBody>
          <a:bodyPr/>
          <a:lstStyle/>
          <a:p>
            <a:r>
              <a:rPr lang="ru-RU" dirty="0" smtClean="0"/>
              <a:t>Проблематика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29681" y="2054571"/>
            <a:ext cx="7932637" cy="3597292"/>
          </a:xfrm>
        </p:spPr>
        <p:txBody>
          <a:bodyPr>
            <a:noAutofit/>
          </a:bodyPr>
          <a:lstStyle/>
          <a:p>
            <a:pPr>
              <a:buFontTx/>
              <a:buChar char="-"/>
            </a:pPr>
            <a:r>
              <a:rPr lang="ru-RU" sz="2000" dirty="0" smtClean="0"/>
              <a:t>Ручной </a:t>
            </a:r>
            <a:r>
              <a:rPr lang="ru-RU" sz="2000" dirty="0"/>
              <a:t>ввод </a:t>
            </a:r>
            <a:r>
              <a:rPr lang="ru-RU" sz="2000" dirty="0" smtClean="0"/>
              <a:t>данных</a:t>
            </a:r>
            <a:r>
              <a:rPr lang="en-US" sz="2000" dirty="0" smtClean="0"/>
              <a:t>(</a:t>
            </a:r>
            <a:r>
              <a:rPr lang="ru-RU" sz="2000" dirty="0" smtClean="0"/>
              <a:t>юридические </a:t>
            </a:r>
            <a:r>
              <a:rPr lang="ru-RU" sz="2000" dirty="0"/>
              <a:t>ошибки, опечатки в паспортах и </a:t>
            </a:r>
            <a:r>
              <a:rPr lang="ru-RU" sz="2000" dirty="0" smtClean="0"/>
              <a:t>реквизитах</a:t>
            </a:r>
            <a:r>
              <a:rPr lang="en-US" sz="2000" dirty="0" smtClean="0"/>
              <a:t>)</a:t>
            </a:r>
          </a:p>
          <a:p>
            <a:pPr>
              <a:buFontTx/>
              <a:buChar char="-"/>
            </a:pPr>
            <a:r>
              <a:rPr lang="ru-RU" sz="2000" dirty="0" smtClean="0"/>
              <a:t>Дублирование операций</a:t>
            </a:r>
            <a:r>
              <a:rPr lang="en-US" sz="2000" dirty="0" smtClean="0"/>
              <a:t>(</a:t>
            </a:r>
            <a:r>
              <a:rPr lang="ru-RU" sz="2000" dirty="0" smtClean="0"/>
              <a:t>многократное </a:t>
            </a:r>
            <a:r>
              <a:rPr lang="ru-RU" sz="2000" dirty="0"/>
              <a:t>размещение объявлений на разных сайтах отнимает </a:t>
            </a:r>
            <a:r>
              <a:rPr lang="ru-RU" sz="2000" dirty="0" smtClean="0"/>
              <a:t>время</a:t>
            </a:r>
            <a:r>
              <a:rPr lang="en-US" sz="2000" dirty="0" smtClean="0"/>
              <a:t>)</a:t>
            </a:r>
          </a:p>
          <a:p>
            <a:pPr>
              <a:buFontTx/>
              <a:buChar char="-"/>
            </a:pPr>
            <a:r>
              <a:rPr lang="ru-RU" sz="2000" dirty="0" smtClean="0"/>
              <a:t>Отсутствие </a:t>
            </a:r>
            <a:r>
              <a:rPr lang="ru-RU" sz="2000" dirty="0"/>
              <a:t>единой </a:t>
            </a:r>
            <a:r>
              <a:rPr lang="ru-RU" sz="2000" dirty="0" smtClean="0"/>
              <a:t>базы</a:t>
            </a:r>
            <a:r>
              <a:rPr lang="en-US" sz="2000" dirty="0" smtClean="0"/>
              <a:t>(</a:t>
            </a:r>
            <a:r>
              <a:rPr lang="ru-RU" sz="2000" dirty="0" smtClean="0"/>
              <a:t>низкая </a:t>
            </a:r>
            <a:r>
              <a:rPr lang="ru-RU" sz="2000" dirty="0"/>
              <a:t>прозрачность процессов, сложный поиск нужных </a:t>
            </a:r>
            <a:r>
              <a:rPr lang="ru-RU" sz="2000" dirty="0" smtClean="0"/>
              <a:t>вариантов</a:t>
            </a:r>
            <a:r>
              <a:rPr lang="en-US" sz="2000" dirty="0" smtClean="0"/>
              <a:t>)</a:t>
            </a:r>
          </a:p>
          <a:p>
            <a:pPr>
              <a:buFontTx/>
              <a:buChar char="-"/>
            </a:pPr>
            <a:r>
              <a:rPr lang="ru-RU" sz="2000" dirty="0" smtClean="0"/>
              <a:t>Нет </a:t>
            </a:r>
            <a:r>
              <a:rPr lang="ru-RU" sz="2000" dirty="0"/>
              <a:t>системы </a:t>
            </a:r>
            <a:r>
              <a:rPr lang="ru-RU" sz="2000" dirty="0" smtClean="0"/>
              <a:t>уведомлений</a:t>
            </a:r>
            <a:r>
              <a:rPr lang="en-US" sz="2000" dirty="0" smtClean="0"/>
              <a:t>(</a:t>
            </a:r>
            <a:r>
              <a:rPr lang="ru-RU" sz="2000" dirty="0" smtClean="0"/>
              <a:t>риск </a:t>
            </a:r>
            <a:r>
              <a:rPr lang="ru-RU" sz="2000" dirty="0"/>
              <a:t>упустить клиента или забыть о следующем этапе </a:t>
            </a:r>
            <a:r>
              <a:rPr lang="ru-RU" sz="2000" dirty="0" smtClean="0"/>
              <a:t>сделки</a:t>
            </a:r>
            <a:r>
              <a:rPr lang="en-US" sz="2000" dirty="0" smtClean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35970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73451" y="781813"/>
            <a:ext cx="7729728" cy="1188720"/>
          </a:xfrm>
        </p:spPr>
        <p:txBody>
          <a:bodyPr/>
          <a:lstStyle/>
          <a:p>
            <a:r>
              <a:rPr lang="ru-RU" dirty="0" smtClean="0"/>
              <a:t>Цели и задачи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397546" y="2289049"/>
            <a:ext cx="4592466" cy="406755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b="1" dirty="0"/>
              <a:t>Цель проекта</a:t>
            </a:r>
            <a:r>
              <a:rPr lang="ru-RU" sz="2000" dirty="0"/>
              <a:t>:</a:t>
            </a:r>
          </a:p>
          <a:p>
            <a:pPr marL="0" indent="0">
              <a:buNone/>
            </a:pPr>
            <a:r>
              <a:rPr lang="ru-RU" sz="2000" dirty="0"/>
              <a:t>Проектирование и программная реализация CRM-системы «</a:t>
            </a:r>
            <a:r>
              <a:rPr lang="ru-RU" sz="2000" dirty="0" err="1"/>
              <a:t>Rielto</a:t>
            </a:r>
            <a:r>
              <a:rPr lang="ru-RU" sz="2000" dirty="0"/>
              <a:t>» для автоматизации бизнес-процессов риелтора, надежного хранения данных, ускорения оформления документов и интеграции с внешними площадками объявлений.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4990011" y="2280993"/>
            <a:ext cx="7132320" cy="428527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sz="2800" b="1" dirty="0"/>
              <a:t>Задачи:</a:t>
            </a:r>
            <a:endParaRPr lang="ru-RU" sz="2800" dirty="0"/>
          </a:p>
          <a:p>
            <a:pPr marL="457200" indent="-457200">
              <a:buFont typeface="+mj-lt"/>
              <a:buAutoNum type="arabicPeriod"/>
            </a:pPr>
            <a:r>
              <a:rPr lang="ru-RU" sz="2800" dirty="0"/>
              <a:t>Провести анализ предметной области </a:t>
            </a:r>
            <a:r>
              <a:rPr lang="ru-RU" sz="2800" dirty="0" smtClean="0"/>
              <a:t>и </a:t>
            </a:r>
            <a:r>
              <a:rPr lang="ru-RU" sz="2800" dirty="0"/>
              <a:t>обосновать реинжиниринг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dirty="0"/>
              <a:t>Разработать функциональные требования и смоделировать процессы </a:t>
            </a:r>
            <a:endParaRPr lang="en-US" sz="28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800" dirty="0" smtClean="0"/>
              <a:t>Спроектировать </a:t>
            </a:r>
            <a:r>
              <a:rPr lang="ru-RU" sz="2800" dirty="0"/>
              <a:t>структуру нормализованной реляционной базы данных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dirty="0"/>
              <a:t>Выбрать оптимальный стек технологий </a:t>
            </a:r>
            <a:endParaRPr lang="en-US" sz="28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800" dirty="0" smtClean="0"/>
              <a:t>Разработать </a:t>
            </a:r>
            <a:r>
              <a:rPr lang="ru-RU" sz="2800" dirty="0"/>
              <a:t>эргономичный пользовательский интерфейс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dirty="0"/>
              <a:t>Реализовать модули генерации договоров и API-выгрузки объявлений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dirty="0"/>
              <a:t>Создать руководство пользователя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78633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Объект 9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Объект исследования</a:t>
            </a:r>
            <a:r>
              <a:rPr lang="ru-RU" sz="2000" dirty="0" smtClean="0"/>
              <a:t>:</a:t>
            </a:r>
            <a:endParaRPr lang="ru-RU" sz="2000" dirty="0"/>
          </a:p>
        </p:txBody>
      </p:sp>
      <p:sp>
        <p:nvSpPr>
          <p:cNvPr id="12" name="Объект 11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2000" dirty="0"/>
              <a:t>Бизнес-процессы агентства недвижимости, связанные с учетом клиентов и объектов, публикацией объявлений и сопровождением сделок купли-продажи.</a:t>
            </a:r>
          </a:p>
          <a:p>
            <a:endParaRPr lang="ru-RU" dirty="0"/>
          </a:p>
        </p:txBody>
      </p:sp>
      <p:sp>
        <p:nvSpPr>
          <p:cNvPr id="13" name="Объект 12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416770" cy="2596776"/>
          </a:xfrm>
        </p:spPr>
        <p:txBody>
          <a:bodyPr/>
          <a:lstStyle/>
          <a:p>
            <a:pPr marL="0" indent="0">
              <a:buNone/>
            </a:pPr>
            <a:r>
              <a:rPr lang="ru-RU" sz="2000" dirty="0"/>
              <a:t>Информационная CRM-система «</a:t>
            </a:r>
            <a:r>
              <a:rPr lang="ru-RU" sz="2000" dirty="0" err="1"/>
              <a:t>Rielto</a:t>
            </a:r>
            <a:r>
              <a:rPr lang="ru-RU" sz="2000" dirty="0"/>
              <a:t>», методы проектирования баз данных и алгоритмы автоматизации рабочего места риелтора.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14" name="Текст 1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Предмет исследования</a:t>
            </a:r>
            <a:r>
              <a:rPr lang="ru-RU" sz="2000" dirty="0" smtClean="0"/>
              <a:t>:</a:t>
            </a:r>
            <a:endParaRPr lang="ru-RU" sz="200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Объект и предмет исследования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42771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389927"/>
            <a:ext cx="7729728" cy="1188720"/>
          </a:xfrm>
        </p:spPr>
        <p:txBody>
          <a:bodyPr>
            <a:normAutofit/>
          </a:bodyPr>
          <a:lstStyle/>
          <a:p>
            <a:r>
              <a:rPr lang="ru-RU" dirty="0"/>
              <a:t>Контекстная </a:t>
            </a:r>
            <a:r>
              <a:rPr lang="en-US" dirty="0" smtClean="0"/>
              <a:t> </a:t>
            </a:r>
            <a:r>
              <a:rPr lang="ru-RU" dirty="0" smtClean="0"/>
              <a:t>Диаграмма </a:t>
            </a:r>
            <a:r>
              <a:rPr lang="en-US" dirty="0" smtClean="0"/>
              <a:t>idef0 </a:t>
            </a:r>
            <a:r>
              <a:rPr lang="ru-RU" dirty="0" smtClean="0"/>
              <a:t>«Проведение сделки»</a:t>
            </a: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851762" y="1825670"/>
            <a:ext cx="6488476" cy="443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90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03395" y="381217"/>
            <a:ext cx="8785208" cy="1188720"/>
          </a:xfrm>
        </p:spPr>
        <p:txBody>
          <a:bodyPr>
            <a:normAutofit/>
          </a:bodyPr>
          <a:lstStyle/>
          <a:p>
            <a:r>
              <a:rPr lang="ru-RU" dirty="0"/>
              <a:t>ДЕКОМПОЗИЦИЯ ДИАГРАММЫ </a:t>
            </a:r>
            <a:r>
              <a:rPr lang="en-US" dirty="0"/>
              <a:t>IDEF0 </a:t>
            </a:r>
            <a:r>
              <a:rPr lang="ru-RU" dirty="0" smtClean="0"/>
              <a:t>(1ур.)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3395" y="1724025"/>
            <a:ext cx="8785208" cy="4711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991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13573" y="529264"/>
            <a:ext cx="7729728" cy="1188720"/>
          </a:xfrm>
        </p:spPr>
        <p:txBody>
          <a:bodyPr/>
          <a:lstStyle/>
          <a:p>
            <a:r>
              <a:rPr lang="ru-RU" dirty="0" smtClean="0"/>
              <a:t>Контекстная ДИАГРАММА </a:t>
            </a:r>
            <a:r>
              <a:rPr lang="ru-RU" dirty="0"/>
              <a:t>DFD </a:t>
            </a:r>
            <a:r>
              <a:rPr lang="ru-RU" dirty="0" smtClean="0"/>
              <a:t>«Проведение сделки»</a:t>
            </a: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777445" y="2059930"/>
            <a:ext cx="6976156" cy="4149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657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68711" y="485721"/>
            <a:ext cx="8654578" cy="1188720"/>
          </a:xfrm>
        </p:spPr>
        <p:txBody>
          <a:bodyPr/>
          <a:lstStyle/>
          <a:p>
            <a:r>
              <a:rPr lang="ru-RU" dirty="0"/>
              <a:t>ДЕКОМПОЗИЦИЯ ДИАГРАММЫ </a:t>
            </a:r>
            <a:r>
              <a:rPr lang="en-US" dirty="0" smtClean="0"/>
              <a:t>DFD</a:t>
            </a:r>
            <a:r>
              <a:rPr lang="ru-RU" dirty="0" smtClean="0"/>
              <a:t> (1ур.)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8711" y="1924321"/>
            <a:ext cx="8654578" cy="454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506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09513" y="355092"/>
            <a:ext cx="7729728" cy="1188720"/>
          </a:xfrm>
        </p:spPr>
        <p:txBody>
          <a:bodyPr/>
          <a:lstStyle/>
          <a:p>
            <a:r>
              <a:rPr lang="ru-RU" dirty="0" smtClean="0"/>
              <a:t>Техническое задание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478971" y="1958775"/>
            <a:ext cx="5573486" cy="4790367"/>
          </a:xfrm>
        </p:spPr>
        <p:txBody>
          <a:bodyPr>
            <a:normAutofit fontScale="47500" lnSpcReduction="20000"/>
          </a:bodyPr>
          <a:lstStyle/>
          <a:p>
            <a:pPr marL="0" indent="0" algn="just">
              <a:buNone/>
            </a:pPr>
            <a:r>
              <a:rPr lang="ru-RU" sz="4200" b="1" dirty="0"/>
              <a:t>Основная цель разработки ИС:</a:t>
            </a:r>
            <a:r>
              <a:rPr lang="ru-RU" sz="4200" dirty="0"/>
              <a:t> Создание </a:t>
            </a:r>
            <a:r>
              <a:rPr lang="ru-RU" sz="4200" dirty="0" smtClean="0"/>
              <a:t>рабочего </a:t>
            </a:r>
            <a:r>
              <a:rPr lang="ru-RU" sz="4200" dirty="0"/>
              <a:t>пространства агента для </a:t>
            </a:r>
            <a:r>
              <a:rPr lang="ru-RU" sz="4200" dirty="0" smtClean="0"/>
              <a:t>хранения </a:t>
            </a:r>
            <a:r>
              <a:rPr lang="ru-RU" sz="4200" dirty="0"/>
              <a:t>данных, автоматизированной выгрузки объявлений, генерации юридически корректных договоров и контроля </a:t>
            </a:r>
            <a:r>
              <a:rPr lang="ru-RU" sz="4200" dirty="0" smtClean="0"/>
              <a:t>сделок</a:t>
            </a:r>
            <a:r>
              <a:rPr lang="ru-RU" sz="4200" dirty="0"/>
              <a:t>.</a:t>
            </a:r>
          </a:p>
          <a:p>
            <a:pPr marL="0" indent="0" algn="just">
              <a:buNone/>
            </a:pPr>
            <a:r>
              <a:rPr lang="ru-RU" sz="4200" b="1" dirty="0" smtClean="0"/>
              <a:t>Этапы разработки:</a:t>
            </a:r>
            <a:endParaRPr lang="ru-RU" sz="4200" dirty="0"/>
          </a:p>
          <a:p>
            <a:pPr algn="just">
              <a:buFontTx/>
              <a:buChar char="-"/>
            </a:pPr>
            <a:r>
              <a:rPr lang="ru-RU" sz="4200" dirty="0" smtClean="0"/>
              <a:t>Анализ </a:t>
            </a:r>
            <a:r>
              <a:rPr lang="ru-RU" sz="4200" dirty="0"/>
              <a:t>требований и согласование </a:t>
            </a:r>
            <a:r>
              <a:rPr lang="ru-RU" sz="4200" dirty="0" smtClean="0"/>
              <a:t>архитектуры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Разработка </a:t>
            </a:r>
            <a:r>
              <a:rPr lang="ru-RU" sz="4200" dirty="0"/>
              <a:t>БД и </a:t>
            </a:r>
            <a:r>
              <a:rPr lang="ru-RU" sz="4200" dirty="0" smtClean="0"/>
              <a:t>UI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Программная </a:t>
            </a:r>
            <a:r>
              <a:rPr lang="ru-RU" sz="4200" dirty="0"/>
              <a:t>реализация серверной и клиентской </a:t>
            </a:r>
            <a:r>
              <a:rPr lang="ru-RU" sz="4200" dirty="0" smtClean="0"/>
              <a:t>частей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Настройка </a:t>
            </a:r>
            <a:r>
              <a:rPr lang="ru-RU" sz="4200" dirty="0"/>
              <a:t>модулей генерации документов и внешней </a:t>
            </a:r>
            <a:r>
              <a:rPr lang="ru-RU" sz="4200" dirty="0" smtClean="0"/>
              <a:t>интеграции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Разработка </a:t>
            </a:r>
            <a:r>
              <a:rPr lang="ru-RU" sz="4200" dirty="0"/>
              <a:t>документации </a:t>
            </a:r>
            <a:r>
              <a:rPr lang="ru-RU" sz="4200" dirty="0" smtClean="0"/>
              <a:t>и эксплуатация</a:t>
            </a:r>
            <a:endParaRPr lang="ru-RU" sz="4200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4377" y="1958775"/>
            <a:ext cx="5704114" cy="4302689"/>
          </a:xfrm>
        </p:spPr>
        <p:txBody>
          <a:bodyPr>
            <a:normAutofit fontScale="47500" lnSpcReduction="20000"/>
          </a:bodyPr>
          <a:lstStyle/>
          <a:p>
            <a:pPr marL="0" indent="0" algn="just">
              <a:buNone/>
            </a:pPr>
            <a:r>
              <a:rPr lang="ru-RU" sz="4200" b="1" dirty="0" smtClean="0"/>
              <a:t>Функциональные </a:t>
            </a:r>
            <a:r>
              <a:rPr lang="ru-RU" sz="4200" b="1" dirty="0"/>
              <a:t>требования:</a:t>
            </a:r>
            <a:r>
              <a:rPr lang="ru-RU" sz="4200" dirty="0"/>
              <a:t> 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Авторизация </a:t>
            </a:r>
            <a:r>
              <a:rPr lang="ru-RU" sz="4200" dirty="0"/>
              <a:t>и ролевая модель доступа </a:t>
            </a:r>
            <a:r>
              <a:rPr lang="ru-RU" sz="4200" dirty="0" smtClean="0"/>
              <a:t> 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CRUD-операции </a:t>
            </a:r>
            <a:r>
              <a:rPr lang="ru-RU" sz="4200" dirty="0"/>
              <a:t>с клиентами и объектами недвижимости 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Загрузка </a:t>
            </a:r>
            <a:r>
              <a:rPr lang="ru-RU" sz="4200" dirty="0"/>
              <a:t>и автоматическая оптимизация фото 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Формирование </a:t>
            </a:r>
            <a:r>
              <a:rPr lang="ru-RU" sz="4200" dirty="0"/>
              <a:t>объявлений и управление статусами выгрузки 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Привязка </a:t>
            </a:r>
            <a:r>
              <a:rPr lang="ru-RU" sz="4200" dirty="0"/>
              <a:t>покупателя, продавца и объекта к единой карточке сделки </a:t>
            </a:r>
          </a:p>
          <a:p>
            <a:pPr algn="just">
              <a:buFontTx/>
              <a:buChar char="-"/>
            </a:pPr>
            <a:r>
              <a:rPr lang="ru-RU" sz="4200" dirty="0" err="1" smtClean="0"/>
              <a:t>Автоподстановка</a:t>
            </a:r>
            <a:r>
              <a:rPr lang="ru-RU" sz="4200" dirty="0" smtClean="0"/>
              <a:t> </a:t>
            </a:r>
            <a:r>
              <a:rPr lang="ru-RU" sz="4200" dirty="0"/>
              <a:t>реквизитов в шаблоны </a:t>
            </a:r>
            <a:r>
              <a:rPr lang="ru-RU" sz="4200" dirty="0" smtClean="0"/>
              <a:t>договоров </a:t>
            </a:r>
          </a:p>
          <a:p>
            <a:pPr algn="just">
              <a:buFontTx/>
              <a:buChar char="-"/>
            </a:pPr>
            <a:r>
              <a:rPr lang="ru-RU" sz="4200" dirty="0" smtClean="0"/>
              <a:t>Системное </a:t>
            </a:r>
            <a:r>
              <a:rPr lang="ru-RU" sz="4200" dirty="0" err="1"/>
              <a:t>логирование</a:t>
            </a:r>
            <a:r>
              <a:rPr lang="ru-RU" sz="4200" dirty="0"/>
              <a:t> действий и </a:t>
            </a:r>
            <a:r>
              <a:rPr lang="ru-RU" sz="4200" dirty="0" err="1"/>
              <a:t>push</a:t>
            </a:r>
            <a:r>
              <a:rPr lang="ru-RU" sz="4200" dirty="0"/>
              <a:t>/</a:t>
            </a:r>
            <a:r>
              <a:rPr lang="ru-RU" sz="4200" dirty="0" err="1"/>
              <a:t>email</a:t>
            </a:r>
            <a:r>
              <a:rPr lang="ru-RU" sz="4200" dirty="0"/>
              <a:t>-уведомления</a:t>
            </a:r>
          </a:p>
          <a:p>
            <a:pPr marL="0" indent="0">
              <a:buNone/>
            </a:pP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349850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355091"/>
            <a:ext cx="7729728" cy="1188720"/>
          </a:xfrm>
        </p:spPr>
        <p:txBody>
          <a:bodyPr>
            <a:normAutofit/>
          </a:bodyPr>
          <a:lstStyle/>
          <a:p>
            <a:r>
              <a:rPr lang="ru-RU" dirty="0"/>
              <a:t>UML диаграмма вариантов использования (</a:t>
            </a:r>
            <a:r>
              <a:rPr lang="ru-RU" dirty="0" err="1"/>
              <a:t>UseCase</a:t>
            </a:r>
            <a:r>
              <a:rPr lang="ru-RU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22554" y="1724025"/>
            <a:ext cx="5346891" cy="4685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01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507" y="2814575"/>
            <a:ext cx="4486656" cy="1141497"/>
          </a:xfrm>
        </p:spPr>
        <p:txBody>
          <a:bodyPr>
            <a:normAutofit/>
          </a:bodyPr>
          <a:lstStyle/>
          <a:p>
            <a:r>
              <a:rPr lang="en-US" dirty="0"/>
              <a:t>UML </a:t>
            </a:r>
            <a:r>
              <a:rPr lang="ru-RU" dirty="0"/>
              <a:t>диаграмма деятельности (</a:t>
            </a:r>
            <a:r>
              <a:rPr lang="en-US" dirty="0"/>
              <a:t>Activity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88480" y="95322"/>
            <a:ext cx="4845269" cy="658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139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944214" y="2858250"/>
            <a:ext cx="4486656" cy="1141497"/>
          </a:xfrm>
        </p:spPr>
        <p:txBody>
          <a:bodyPr>
            <a:normAutofit fontScale="90000"/>
          </a:bodyPr>
          <a:lstStyle/>
          <a:p>
            <a:r>
              <a:rPr lang="en-US" dirty="0"/>
              <a:t>UML </a:t>
            </a:r>
            <a:r>
              <a:rPr lang="ru-RU" dirty="0"/>
              <a:t>диаграмма последовательности (</a:t>
            </a:r>
            <a:r>
              <a:rPr lang="en-US" dirty="0"/>
              <a:t>Sequence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4469" y="929639"/>
            <a:ext cx="5460274" cy="499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54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372509"/>
            <a:ext cx="7729728" cy="1188720"/>
          </a:xfrm>
        </p:spPr>
        <p:txBody>
          <a:bodyPr/>
          <a:lstStyle/>
          <a:p>
            <a:r>
              <a:rPr lang="en-US" dirty="0"/>
              <a:t>UML </a:t>
            </a:r>
            <a:r>
              <a:rPr lang="ru-RU" dirty="0"/>
              <a:t>диаграмма классов (</a:t>
            </a:r>
            <a:r>
              <a:rPr lang="en-US" dirty="0"/>
              <a:t>Class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3287" y="1811382"/>
            <a:ext cx="5865425" cy="468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2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433469"/>
            <a:ext cx="7729728" cy="1188720"/>
          </a:xfrm>
        </p:spPr>
        <p:txBody>
          <a:bodyPr/>
          <a:lstStyle/>
          <a:p>
            <a:r>
              <a:rPr lang="ru-RU" dirty="0"/>
              <a:t>ЛОГИЧЕСКАЯ МОДЕЛЬ </a:t>
            </a:r>
            <a:r>
              <a:rPr lang="ru-RU" dirty="0" smtClean="0"/>
              <a:t>ДАННЫХ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9988" y="1776276"/>
            <a:ext cx="6932023" cy="467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294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5" y="578294"/>
            <a:ext cx="7729728" cy="1188720"/>
          </a:xfrm>
        </p:spPr>
        <p:txBody>
          <a:bodyPr/>
          <a:lstStyle/>
          <a:p>
            <a:r>
              <a:rPr lang="ru-RU" dirty="0"/>
              <a:t>АНАЛИТИЧЕСКИЕ ЗАПРОСЫ К БАЗЕ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31135" y="1927653"/>
            <a:ext cx="7729728" cy="4073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Фильтрация объектов недвижимости по типу и бюджету</a:t>
            </a:r>
            <a:endParaRPr lang="ru-RU" sz="2000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18034" y="2495607"/>
            <a:ext cx="8155931" cy="378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442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231135" y="510436"/>
            <a:ext cx="7729728" cy="1188720"/>
          </a:xfrm>
        </p:spPr>
        <p:txBody>
          <a:bodyPr/>
          <a:lstStyle/>
          <a:p>
            <a:r>
              <a:rPr lang="ru-RU" dirty="0"/>
              <a:t>АНАЛИТИЧЕСКИЕ ЗАПРОСЫ К БАЗЕ ДАННЫХ</a:t>
            </a: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916697" y="2384652"/>
            <a:ext cx="8358605" cy="3917294"/>
          </a:xfrm>
          <a:prstGeom prst="rect">
            <a:avLst/>
          </a:prstGeom>
        </p:spPr>
      </p:pic>
      <p:sp>
        <p:nvSpPr>
          <p:cNvPr id="6" name="Объект 2"/>
          <p:cNvSpPr>
            <a:spLocks noGrp="1"/>
          </p:cNvSpPr>
          <p:nvPr>
            <p:ph idx="1"/>
          </p:nvPr>
        </p:nvSpPr>
        <p:spPr>
          <a:xfrm>
            <a:off x="2231135" y="1853514"/>
            <a:ext cx="7729728" cy="5311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Расчёт средней рыночной стоимости по </a:t>
            </a:r>
            <a:r>
              <a:rPr lang="ru-RU" sz="2000" dirty="0" smtClean="0"/>
              <a:t>категориям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051267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31136" y="1969903"/>
            <a:ext cx="7234397" cy="4396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 smtClean="0"/>
              <a:t>Проверка </a:t>
            </a:r>
            <a:r>
              <a:rPr lang="ru-RU" sz="2000" dirty="0" err="1"/>
              <a:t>заполненности</a:t>
            </a:r>
            <a:r>
              <a:rPr lang="ru-RU" sz="2000" dirty="0"/>
              <a:t> </a:t>
            </a:r>
            <a:r>
              <a:rPr lang="ru-RU" sz="2000" dirty="0" smtClean="0"/>
              <a:t>паспортных </a:t>
            </a:r>
            <a:r>
              <a:rPr lang="ru-RU" sz="2000" dirty="0"/>
              <a:t>данных</a:t>
            </a:r>
            <a:endParaRPr lang="ru-RU" sz="2000" dirty="0"/>
          </a:p>
        </p:txBody>
      </p:sp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231136" y="615120"/>
            <a:ext cx="7729728" cy="1188720"/>
          </a:xfrm>
        </p:spPr>
        <p:txBody>
          <a:bodyPr/>
          <a:lstStyle/>
          <a:p>
            <a:r>
              <a:rPr lang="ru-RU" dirty="0" smtClean="0"/>
              <a:t>Проверочные </a:t>
            </a:r>
            <a:r>
              <a:rPr lang="ru-RU" dirty="0"/>
              <a:t>ЗАПРОСЫ К БАЗЕ ДАННЫХ</a:t>
            </a: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748162" y="2575631"/>
            <a:ext cx="8557373" cy="3392683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1748162" y="2575631"/>
            <a:ext cx="8557373" cy="59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762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424760"/>
            <a:ext cx="7729728" cy="1188720"/>
          </a:xfrm>
        </p:spPr>
        <p:txBody>
          <a:bodyPr/>
          <a:lstStyle/>
          <a:p>
            <a:r>
              <a:rPr lang="ru-RU" dirty="0"/>
              <a:t>ПОЛЬЗОВАТЕЛЬСКИЙ </a:t>
            </a:r>
            <a:r>
              <a:rPr lang="ru-RU" dirty="0" smtClean="0"/>
              <a:t>ИНТЕРФЕЙС</a:t>
            </a: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330836" y="1947966"/>
            <a:ext cx="7530328" cy="451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78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231136" y="608700"/>
            <a:ext cx="7729728" cy="1188720"/>
          </a:xfrm>
        </p:spPr>
        <p:txBody>
          <a:bodyPr/>
          <a:lstStyle/>
          <a:p>
            <a:r>
              <a:rPr lang="ru-RU" dirty="0"/>
              <a:t>ПОЛЬЗОВАТЕЛЬСКИЙ </a:t>
            </a:r>
            <a:r>
              <a:rPr lang="ru-RU" dirty="0" smtClean="0"/>
              <a:t>ИНТЕРФЕЙС</a:t>
            </a:r>
            <a:endParaRPr lang="ru-RU" dirty="0"/>
          </a:p>
        </p:txBody>
      </p:sp>
      <p:pic>
        <p:nvPicPr>
          <p:cNvPr id="5" name="Объект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33071" y="2355737"/>
            <a:ext cx="5940425" cy="371602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93790" y="2355737"/>
            <a:ext cx="5940425" cy="371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992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21984" y="458065"/>
            <a:ext cx="7729728" cy="1188720"/>
          </a:xfrm>
        </p:spPr>
        <p:txBody>
          <a:bodyPr/>
          <a:lstStyle/>
          <a:p>
            <a:r>
              <a:rPr lang="ru-RU" dirty="0" smtClean="0"/>
              <a:t>Заключение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58097" y="1902941"/>
            <a:ext cx="9316995" cy="452257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000" dirty="0" smtClean="0">
                <a:ea typeface="Times New Roman" panose="02020603050405020304" pitchFamily="18" charset="0"/>
              </a:rPr>
              <a:t>	В </a:t>
            </a:r>
            <a:r>
              <a:rPr lang="ru-RU" sz="2000" dirty="0">
                <a:ea typeface="Times New Roman" panose="02020603050405020304" pitchFamily="18" charset="0"/>
              </a:rPr>
              <a:t>заключение курсового проекта по теме «Проектирование ИС «Агентство недвижимости»» можно утвердить, что была разработана система, предоставляющая </a:t>
            </a:r>
            <a:r>
              <a:rPr lang="ru-RU" sz="2000" dirty="0" smtClean="0">
                <a:ea typeface="Times New Roman" panose="02020603050405020304" pitchFamily="18" charset="0"/>
              </a:rPr>
              <a:t>агентам(риелторам) </a:t>
            </a:r>
            <a:r>
              <a:rPr lang="ru-RU" sz="2000" dirty="0">
                <a:ea typeface="Times New Roman" panose="02020603050405020304" pitchFamily="18" charset="0"/>
              </a:rPr>
              <a:t>возможность </a:t>
            </a:r>
            <a:r>
              <a:rPr lang="ru-RU" sz="2000" dirty="0" smtClean="0">
                <a:ea typeface="Times New Roman" panose="02020603050405020304" pitchFamily="18" charset="0"/>
              </a:rPr>
              <a:t>подбора объектов/клиентов, проведения сделки, хранения данных, генерации договоров/объявлений с </a:t>
            </a:r>
            <a:r>
              <a:rPr lang="ru-RU" sz="2000" dirty="0">
                <a:ea typeface="Times New Roman" panose="02020603050405020304" pitchFamily="18" charset="0"/>
              </a:rPr>
              <a:t>использованием </a:t>
            </a:r>
            <a:r>
              <a:rPr lang="ru-RU" sz="2000" dirty="0" smtClean="0">
                <a:ea typeface="Times New Roman" panose="02020603050405020304" pitchFamily="18" charset="0"/>
              </a:rPr>
              <a:t>информационной системы. </a:t>
            </a:r>
          </a:p>
          <a:p>
            <a:pPr marL="0" indent="0" algn="just">
              <a:buNone/>
            </a:pPr>
            <a:r>
              <a:rPr lang="ru-RU" sz="2000" dirty="0" smtClean="0">
                <a:ea typeface="Times New Roman" panose="02020603050405020304" pitchFamily="18" charset="0"/>
              </a:rPr>
              <a:t>	Разработка </a:t>
            </a:r>
            <a:r>
              <a:rPr lang="ru-RU" sz="2000" dirty="0">
                <a:ea typeface="Times New Roman" panose="02020603050405020304" pitchFamily="18" charset="0"/>
              </a:rPr>
              <a:t>этой информационной системы представляет собой важный шаг в сфере недвижимости, обеспечивая агентам(риелторам) удобный и доступный способ ведения учета объектов, клиентов, сделок, а также обеспечивает устойчивое конкурентное преимущество, снижение операционных издержек и переход к </a:t>
            </a:r>
            <a:r>
              <a:rPr lang="ru-RU" sz="2000" dirty="0" err="1" smtClean="0">
                <a:ea typeface="Times New Roman" panose="02020603050405020304" pitchFamily="18" charset="0"/>
              </a:rPr>
              <a:t>клиентоориентированной</a:t>
            </a:r>
            <a:r>
              <a:rPr lang="ru-RU" sz="2000" dirty="0" smtClean="0">
                <a:ea typeface="Times New Roman" panose="02020603050405020304" pitchFamily="18" charset="0"/>
              </a:rPr>
              <a:t> </a:t>
            </a:r>
            <a:r>
              <a:rPr lang="ru-RU" sz="2000" dirty="0">
                <a:ea typeface="Times New Roman" panose="02020603050405020304" pitchFamily="18" charset="0"/>
              </a:rPr>
              <a:t>модели </a:t>
            </a:r>
            <a:r>
              <a:rPr lang="ru-RU" sz="2000" dirty="0" smtClean="0">
                <a:ea typeface="Times New Roman" panose="02020603050405020304" pitchFamily="18" charset="0"/>
              </a:rPr>
              <a:t>обслуживания.</a:t>
            </a:r>
            <a:endParaRPr lang="ru-RU" sz="2000" dirty="0" smtClean="0"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4063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248553" y="2697698"/>
            <a:ext cx="7729728" cy="1188720"/>
          </a:xfrm>
        </p:spPr>
        <p:txBody>
          <a:bodyPr/>
          <a:lstStyle/>
          <a:p>
            <a:r>
              <a:rPr lang="ru-RU" dirty="0" smtClean="0"/>
              <a:t>Спасибо за внимание!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5591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Посылка</Template>
  <TotalTime>121</TotalTime>
  <Words>568</Words>
  <Application>Microsoft Office PowerPoint</Application>
  <PresentationFormat>Широкоэкранный</PresentationFormat>
  <Paragraphs>75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Arial</vt:lpstr>
      <vt:lpstr>Calibri</vt:lpstr>
      <vt:lpstr>Corbel</vt:lpstr>
      <vt:lpstr>Gill Sans MT</vt:lpstr>
      <vt:lpstr>Times New Roman</vt:lpstr>
      <vt:lpstr>Parcel</vt:lpstr>
      <vt:lpstr>Презентация PowerPoint</vt:lpstr>
      <vt:lpstr>Описание предметной области</vt:lpstr>
      <vt:lpstr>Проблематика</vt:lpstr>
      <vt:lpstr>Цели и задачи</vt:lpstr>
      <vt:lpstr>Объект и предмет исследования</vt:lpstr>
      <vt:lpstr>Контекстная  Диаграмма idef0 «Проведение сделки»</vt:lpstr>
      <vt:lpstr>ДЕКОМПОЗИЦИЯ ДИАГРАММЫ IDEF0 (1ур.)</vt:lpstr>
      <vt:lpstr>Контекстная ДИАГРАММА DFD «Проведение сделки»</vt:lpstr>
      <vt:lpstr>ДЕКОМПОЗИЦИЯ ДИАГРАММЫ DFD (1ур.)</vt:lpstr>
      <vt:lpstr>Техническое задание</vt:lpstr>
      <vt:lpstr>UML диаграмма вариантов использования (UseCase)</vt:lpstr>
      <vt:lpstr>UML диаграмма деятельности (Activity)</vt:lpstr>
      <vt:lpstr>UML диаграмма последовательности (Sequence)</vt:lpstr>
      <vt:lpstr>UML диаграмма классов (Class)</vt:lpstr>
      <vt:lpstr>ЛОГИЧЕСКАЯ МОДЕЛЬ ДАННЫХ</vt:lpstr>
      <vt:lpstr>АНАЛИТИЧЕСКИЕ ЗАПРОСЫ К БАЗЕ ДАННЫХ</vt:lpstr>
      <vt:lpstr>АНАЛИТИЧЕСКИЕ ЗАПРОСЫ К БАЗЕ ДАННЫХ</vt:lpstr>
      <vt:lpstr>Проверочные ЗАПРОСЫ К БАЗЕ ДАННЫХ</vt:lpstr>
      <vt:lpstr>ПОЛЬЗОВАТЕЛЬСКИЙ ИНТЕРФЕЙС</vt:lpstr>
      <vt:lpstr>ПОЛЬЗОВАТЕЛЬСКИЙ ИНТЕРФЕЙС</vt:lpstr>
      <vt:lpstr>Заключение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Student</dc:creator>
  <cp:lastModifiedBy>Student</cp:lastModifiedBy>
  <cp:revision>12</cp:revision>
  <dcterms:created xsi:type="dcterms:W3CDTF">2026-05-05T04:42:58Z</dcterms:created>
  <dcterms:modified xsi:type="dcterms:W3CDTF">2026-05-05T07:23:47Z</dcterms:modified>
</cp:coreProperties>
</file>